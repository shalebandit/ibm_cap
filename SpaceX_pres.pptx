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IBM Plex Mono SemiBold"/>
      <p:regular r:id="rId56"/>
      <p:bold r:id="rId57"/>
      <p:italic r:id="rId58"/>
      <p:boldItalic r:id="rId59"/>
    </p:embeddedFont>
    <p:embeddedFont>
      <p:font typeface="IBM Plex Mon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BMPlexMono-italic.fntdata"/><Relationship Id="rId61" Type="http://schemas.openxmlformats.org/officeDocument/2006/relationships/font" Target="fonts/IBMPlexMono-bold.fntdata"/><Relationship Id="rId20" Type="http://schemas.openxmlformats.org/officeDocument/2006/relationships/slide" Target="slides/slide14.xml"/><Relationship Id="rId63" Type="http://schemas.openxmlformats.org/officeDocument/2006/relationships/font" Target="fonts/IBMPlexMon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IBMPlexMono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5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-italic.fntdata"/><Relationship Id="rId13" Type="http://schemas.openxmlformats.org/officeDocument/2006/relationships/slide" Target="slides/slide7.xml"/><Relationship Id="rId57" Type="http://schemas.openxmlformats.org/officeDocument/2006/relationships/font" Target="fonts/IBMPlexMonoSemiBold-bold.fntdata"/><Relationship Id="rId12" Type="http://schemas.openxmlformats.org/officeDocument/2006/relationships/slide" Target="slides/slide6.xml"/><Relationship Id="rId56" Type="http://schemas.openxmlformats.org/officeDocument/2006/relationships/font" Target="fonts/IBMPlexMonoSemiBold-regular.fntdata"/><Relationship Id="rId15" Type="http://schemas.openxmlformats.org/officeDocument/2006/relationships/slide" Target="slides/slide9.xml"/><Relationship Id="rId59" Type="http://schemas.openxmlformats.org/officeDocument/2006/relationships/font" Target="fonts/IBMPlexMonoSemiBold-boldItalic.fntdata"/><Relationship Id="rId14" Type="http://schemas.openxmlformats.org/officeDocument/2006/relationships/slide" Target="slides/slide8.xml"/><Relationship Id="rId58" Type="http://schemas.openxmlformats.org/officeDocument/2006/relationships/font" Target="fonts/IBMPlexMonoSemiBol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7a737c5a3_2_73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7a737c5a3_2_73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7a737c5a3_2_79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b7a737c5a3_2_79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7a737c5a3_2_79:notes"/>
          <p:cNvSpPr txBox="1"/>
          <p:nvPr>
            <p:ph idx="12" type="sldNum"/>
          </p:nvPr>
        </p:nvSpPr>
        <p:spPr>
          <a:xfrm>
            <a:off x="3884613" y="42757972"/>
            <a:ext cx="2971800" cy="2258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7a737c5a3_2_86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7a737c5a3_2_86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7a737c5a3_2_92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b7a737c5a3_2_92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7a737c5a3_2_98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7a737c5a3_2_98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7a737c5a3_2_103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b7a737c5a3_2_103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7" name="Google Shape;167;g3b7a737c5a3_2_103:notes"/>
          <p:cNvSpPr txBox="1"/>
          <p:nvPr>
            <p:ph idx="12" type="sldNum"/>
          </p:nvPr>
        </p:nvSpPr>
        <p:spPr>
          <a:xfrm>
            <a:off x="3884613" y="42757972"/>
            <a:ext cx="2971800" cy="2258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7a737c5a3_2_110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b7a737c5a3_2_110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a737c5a3_2_116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b7a737c5a3_2_116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7a737c5a3_2_123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b7a737c5a3_2_123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7a737c5a3_2_131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b7a737c5a3_2_131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7a737c5a3_2_137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b7a737c5a3_2_137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7a737c5a3_2_143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b7a737c5a3_2_143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7a737c5a3_2_149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b7a737c5a3_2_149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7a737c5a3_2_155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b7a737c5a3_2_155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7a737c5a3_2_161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b7a737c5a3_2_161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7a737c5a3_2_167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b7a737c5a3_2_167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2" name="Google Shape;282;g3b7a737c5a3_2_167:notes"/>
          <p:cNvSpPr txBox="1"/>
          <p:nvPr>
            <p:ph idx="12" type="sldNum"/>
          </p:nvPr>
        </p:nvSpPr>
        <p:spPr>
          <a:xfrm>
            <a:off x="3884613" y="42757972"/>
            <a:ext cx="2971800" cy="2258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7a737c5a3_2_174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b7a737c5a3_2_174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7a737c5a3_2_178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b7a737c5a3_2_178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7a737c5a3_2_184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b7a737c5a3_2_184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7a737c5a3_2_190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b7a737c5a3_2_190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7a737c5a3_2_196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b7a737c5a3_2_196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7a737c5a3_2_202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b7a737c5a3_2_202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7a737c5a3_2_208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b7a737c5a3_2_208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7a737c5a3_2_214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b7a737c5a3_2_214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7a737c5a3_2_220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b7a737c5a3_2_220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7a737c5a3_2_226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b7a737c5a3_2_226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7a737c5a3_2_232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b7a737c5a3_2_232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7a737c5a3_2_238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b7a737c5a3_2_238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7a737c5a3_2_244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b7a737c5a3_2_244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7a737c5a3_2_250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b7a737c5a3_2_250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7a737c5a3_2_256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b7a737c5a3_2_256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7a737c5a3_2_262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b7a737c5a3_2_262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7a737c5a3_2_268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b7a737c5a3_2_268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b7a737c5a3_2_274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b7a737c5a3_2_274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7a737c5a3_2_278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b7a737c5a3_2_278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7a737c5a3_2_284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b7a737c5a3_2_284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7a737c5a3_2_296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b7a737c5a3_2_296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7a737c5a3_2_300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b7a737c5a3_2_300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7a737c5a3_2_306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b7a737c5a3_2_306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b7a737c5a3_2_318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b7a737c5a3_2_318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7a737c5a3_2_322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b7a737c5a3_2_322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7a737c5a3_2_328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b7a737c5a3_2_328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7a737c5a3_2_334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b7a737c5a3_2_334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7a737c5a3_2_347:notes"/>
          <p:cNvSpPr txBox="1"/>
          <p:nvPr>
            <p:ph idx="1" type="body"/>
          </p:nvPr>
        </p:nvSpPr>
        <p:spPr>
          <a:xfrm>
            <a:off x="685800" y="21664246"/>
            <a:ext cx="5486400" cy="1772529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b7a737c5a3_2_347:notes"/>
          <p:cNvSpPr/>
          <p:nvPr>
            <p:ph idx="2" type="sldImg"/>
          </p:nvPr>
        </p:nvSpPr>
        <p:spPr>
          <a:xfrm>
            <a:off x="685800" y="5627077"/>
            <a:ext cx="5486400" cy="151931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>
  <p:cSld name="1_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3600"/>
              <a:buFont typeface="IBM Plex Mono SemiBold"/>
              <a:buNone/>
              <a:defRPr b="0" i="0" sz="3600" u="none" cap="none" strike="noStrike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ertical Title and Text">
  <p:cSld name="1_Vertical Title and 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0" name="Google Shape;90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2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3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6" name="Google Shape;106;p2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9" name="Google Shape;119;p2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6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hyperlink" Target="https://github.com/shalebandit/IBM_CAP/blob/main/jupyter-labs-spacex-data-collection-api.ipynb" TargetMode="External"/><Relationship Id="rId5" Type="http://schemas.openxmlformats.org/officeDocument/2006/relationships/hyperlink" Target="https://github.com/shalebandit/IBM_CAP/blob/main/jupyter-labs-webscraping.ipynb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hyperlink" Target="https://github.com/shalebandit/IBM_CAP/blob/main/edadataviz.ipynb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github.com/shalebandit/IBM_CAP/blob/main/jupyter-labs-eda-sql-coursera_sqllite.ipynb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hyperlink" Target="https://github.com/shalebandit/IBM_CAP/blob/main/lab-jupyter-launch-site-location-v2.ipynb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hyperlink" Target="https://github.com/shalebandit/IBM_CAP/blob/main/SpaceX_dash_app.ipynb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hyperlink" Target="https://github.com/shalebandit/IBM_CAP/blob/main/SpaceX_Machine%20Learning%20Prediction_Part_5.ipynb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/>
        </p:nvSpPr>
        <p:spPr>
          <a:xfrm>
            <a:off x="666410" y="3426550"/>
            <a:ext cx="188595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&lt;Name&gt;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&lt;Date&gt;</a:t>
            </a:r>
            <a:endParaRPr sz="1100"/>
          </a:p>
        </p:txBody>
      </p:sp>
      <p:pic>
        <p:nvPicPr>
          <p:cNvPr descr="IBM Skills Network Logo - Horizontal-noai copy.png" id="134" name="Google Shape;1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365" y="507621"/>
            <a:ext cx="1578077" cy="471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9"/>
          <p:cNvSpPr txBox="1"/>
          <p:nvPr/>
        </p:nvSpPr>
        <p:spPr>
          <a:xfrm>
            <a:off x="719023" y="1584930"/>
            <a:ext cx="3875315" cy="24906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1100"/>
          </a:p>
        </p:txBody>
      </p:sp>
      <p:sp>
        <p:nvSpPr>
          <p:cNvPr id="142" name="Google Shape;142;p29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30"/>
          <p:cNvSpPr txBox="1"/>
          <p:nvPr/>
        </p:nvSpPr>
        <p:spPr>
          <a:xfrm>
            <a:off x="719175" y="2013719"/>
            <a:ext cx="3013500" cy="19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Data was collected, cleaned and analyzed. 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Several models performed well offering a </a:t>
            </a:r>
            <a:r>
              <a:rPr lang="en" sz="1700">
                <a:solidFill>
                  <a:srgbClr val="292929"/>
                </a:solidFill>
              </a:rPr>
              <a:t>variety</a:t>
            </a:r>
            <a:r>
              <a:rPr lang="en" sz="1700">
                <a:solidFill>
                  <a:srgbClr val="292929"/>
                </a:solidFill>
              </a:rPr>
              <a:t> of options. </a:t>
            </a:r>
            <a:endParaRPr sz="1100"/>
          </a:p>
        </p:txBody>
      </p:sp>
      <p:sp>
        <p:nvSpPr>
          <p:cNvPr id="149" name="Google Shape;149;p30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150" name="Google Shape;1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5325" y="1278924"/>
            <a:ext cx="4843524" cy="3398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31"/>
          <p:cNvSpPr txBox="1"/>
          <p:nvPr/>
        </p:nvSpPr>
        <p:spPr>
          <a:xfrm>
            <a:off x="621051" y="403988"/>
            <a:ext cx="7897586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57" name="Google Shape;157;p31"/>
          <p:cNvSpPr txBox="1"/>
          <p:nvPr/>
        </p:nvSpPr>
        <p:spPr>
          <a:xfrm>
            <a:off x="719027" y="1891050"/>
            <a:ext cx="7758000" cy="17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The purpose of this project is to predict if SpaceX will recover stage 1 after launch. If SpaceX recovers stage 1 they realize significant cost savings. If they don’t recover stage one it may be a good opportunity for a </a:t>
            </a:r>
            <a:r>
              <a:rPr lang="en" sz="1700">
                <a:solidFill>
                  <a:srgbClr val="292929"/>
                </a:solidFill>
              </a:rPr>
              <a:t>competitor</a:t>
            </a:r>
            <a:r>
              <a:rPr lang="en" sz="1700">
                <a:solidFill>
                  <a:srgbClr val="292929"/>
                </a:solidFill>
              </a:rPr>
              <a:t> to bid against them. </a:t>
            </a:r>
            <a:endParaRPr sz="1100"/>
          </a:p>
          <a:p>
            <a:pPr indent="-184150" lvl="0" marL="1778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Based on the available Data is it possible to predict stage 1 recover and what </a:t>
            </a:r>
            <a:r>
              <a:rPr lang="en" sz="1700">
                <a:solidFill>
                  <a:srgbClr val="292929"/>
                </a:solidFill>
              </a:rPr>
              <a:t>factors may be best predictors?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idx="12" type="sldNum"/>
          </p:nvPr>
        </p:nvSpPr>
        <p:spPr>
          <a:xfrm>
            <a:off x="708660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2"/>
          <p:cNvSpPr txBox="1"/>
          <p:nvPr/>
        </p:nvSpPr>
        <p:spPr>
          <a:xfrm>
            <a:off x="573985" y="2109581"/>
            <a:ext cx="793727" cy="276999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33"/>
          <p:cNvSpPr txBox="1"/>
          <p:nvPr/>
        </p:nvSpPr>
        <p:spPr>
          <a:xfrm>
            <a:off x="577508" y="1185606"/>
            <a:ext cx="7578613" cy="39089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66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100"/>
          </a:p>
          <a:p>
            <a:pPr indent="-180975" lvl="0" marL="1778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" sz="66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Data collection methodology:</a:t>
            </a:r>
            <a:endParaRPr sz="1100"/>
          </a:p>
          <a:p>
            <a:pPr indent="-179387" lvl="1" marL="5207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Char char="•"/>
            </a:pPr>
            <a:r>
              <a:rPr lang="en" sz="5700">
                <a:solidFill>
                  <a:srgbClr val="757070"/>
                </a:solidFill>
              </a:rPr>
              <a:t>Publicly available SpaceX data was collected via API and web scraping.</a:t>
            </a:r>
            <a:endParaRPr sz="1100"/>
          </a:p>
          <a:p>
            <a:pPr indent="-180975" lvl="0" marL="1778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" sz="66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data wrangling</a:t>
            </a:r>
            <a:endParaRPr sz="1100"/>
          </a:p>
          <a:p>
            <a:pPr indent="-179387" lvl="1" marL="5207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Char char="•"/>
            </a:pPr>
            <a:r>
              <a:rPr lang="en" sz="5700">
                <a:solidFill>
                  <a:srgbClr val="757070"/>
                </a:solidFill>
              </a:rPr>
              <a:t>Several landing outcomes were simplified into a simple binary variable for successful or unsuccessful landing. </a:t>
            </a:r>
            <a:endParaRPr sz="1100"/>
          </a:p>
          <a:p>
            <a:pPr indent="-180975" lvl="0" marL="1778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" sz="66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exploratory data analysis (EDA) using visualization and SQL</a:t>
            </a:r>
            <a:endParaRPr sz="1100"/>
          </a:p>
          <a:p>
            <a:pPr indent="-180975" lvl="0" marL="1778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" sz="66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interactive visual analytics using Folium and Plotly Dash</a:t>
            </a:r>
            <a:endParaRPr sz="1100"/>
          </a:p>
          <a:p>
            <a:pPr indent="-180975" lvl="0" marL="1778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" sz="66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predictive analysis using classification models</a:t>
            </a:r>
            <a:endParaRPr sz="1100"/>
          </a:p>
          <a:p>
            <a:pPr indent="-179387" lvl="1" marL="5207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Char char="•"/>
            </a:pPr>
            <a:r>
              <a:rPr lang="en" sz="5700">
                <a:solidFill>
                  <a:srgbClr val="757070"/>
                </a:solidFill>
              </a:rPr>
              <a:t>Several models were built and tuned. Three of the 4 models had </a:t>
            </a:r>
            <a:r>
              <a:rPr lang="en" sz="5700">
                <a:solidFill>
                  <a:srgbClr val="757070"/>
                </a:solidFill>
              </a:rPr>
              <a:t>similar</a:t>
            </a:r>
            <a:r>
              <a:rPr lang="en" sz="5700">
                <a:solidFill>
                  <a:srgbClr val="757070"/>
                </a:solidFill>
              </a:rPr>
              <a:t> accuracy giving us multiple predictive options. </a:t>
            </a:r>
            <a:endParaRPr sz="1100"/>
          </a:p>
          <a:p>
            <a:pPr indent="-76200" lvl="0" marL="17780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t/>
            </a:r>
            <a:endParaRPr sz="66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t/>
            </a:r>
            <a:endParaRPr sz="17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t/>
            </a:r>
            <a:endParaRPr sz="17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t/>
            </a:r>
            <a:endParaRPr sz="17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t/>
            </a:r>
            <a:endParaRPr sz="17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3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577508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Data collection was done from two sources - SpaceX API and web-scraping. 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Links to both are provided below:</a:t>
            </a:r>
            <a:endParaRPr sz="1700">
              <a:solidFill>
                <a:srgbClr val="292929"/>
              </a:solidFill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○"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API notebook</a:t>
            </a:r>
            <a:endParaRPr sz="1700">
              <a:solidFill>
                <a:srgbClr val="292929"/>
              </a:solidFill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○"/>
            </a:pPr>
            <a:r>
              <a:rPr lang="en" sz="1700" u="sng">
                <a:solidFill>
                  <a:schemeClr val="hlink"/>
                </a:solidFill>
                <a:hlinkClick r:id="rId5"/>
              </a:rPr>
              <a:t>Web-scraping notebook</a:t>
            </a:r>
            <a:endParaRPr sz="1700">
              <a:solidFill>
                <a:srgbClr val="292929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4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35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Collection – SpaceX API</a:t>
            </a:r>
            <a:endParaRPr sz="1100"/>
          </a:p>
        </p:txBody>
      </p:sp>
      <p:grpSp>
        <p:nvGrpSpPr>
          <p:cNvPr id="185" name="Google Shape;185;p35"/>
          <p:cNvGrpSpPr/>
          <p:nvPr/>
        </p:nvGrpSpPr>
        <p:grpSpPr>
          <a:xfrm>
            <a:off x="0" y="1189989"/>
            <a:ext cx="2214600" cy="3217636"/>
            <a:chOff x="0" y="1189989"/>
            <a:chExt cx="2214600" cy="3217636"/>
          </a:xfrm>
        </p:grpSpPr>
        <p:sp>
          <p:nvSpPr>
            <p:cNvPr id="186" name="Google Shape;186;p35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EXTRACT: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87;p35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Request data from the </a:t>
              </a:r>
              <a:r>
                <a:rPr b="1" lang="en" sz="1100">
                  <a:solidFill>
                    <a:schemeClr val="dk1"/>
                  </a:solidFill>
                </a:rPr>
                <a:t>SpaceX API</a:t>
              </a:r>
              <a:r>
                <a:rPr lang="en" sz="1100">
                  <a:solidFill>
                    <a:schemeClr val="dk1"/>
                  </a:solidFill>
                </a:rPr>
                <a:t>. 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8" name="Google Shape;188;p35"/>
          <p:cNvGrpSpPr/>
          <p:nvPr/>
        </p:nvGrpSpPr>
        <p:grpSpPr>
          <a:xfrm>
            <a:off x="1838325" y="1189775"/>
            <a:ext cx="2064000" cy="3217850"/>
            <a:chOff x="1838325" y="1189775"/>
            <a:chExt cx="2064000" cy="3217850"/>
          </a:xfrm>
        </p:grpSpPr>
        <p:sp>
          <p:nvSpPr>
            <p:cNvPr id="189" name="Google Shape;189;p35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PARSE: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" name="Google Shape;190;p35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Convert JSON response into a flat </a:t>
              </a:r>
              <a:r>
                <a:rPr b="1" lang="en" sz="1100">
                  <a:solidFill>
                    <a:schemeClr val="dk1"/>
                  </a:solidFill>
                </a:rPr>
                <a:t>Pandas DataFrame</a:t>
              </a:r>
              <a:r>
                <a:rPr lang="en" sz="1100">
                  <a:solidFill>
                    <a:schemeClr val="dk1"/>
                  </a:solidFill>
                </a:rPr>
                <a:t>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1" name="Google Shape;191;p35"/>
          <p:cNvGrpSpPr/>
          <p:nvPr/>
        </p:nvGrpSpPr>
        <p:grpSpPr>
          <a:xfrm>
            <a:off x="3516750" y="1189775"/>
            <a:ext cx="2064000" cy="3217850"/>
            <a:chOff x="3516750" y="1189775"/>
            <a:chExt cx="2064000" cy="3217850"/>
          </a:xfrm>
        </p:grpSpPr>
        <p:sp>
          <p:nvSpPr>
            <p:cNvPr id="192" name="Google Shape;192;p35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FILTER: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" name="Google Shape;193;p35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Isolate </a:t>
              </a:r>
              <a:r>
                <a:rPr b="1" lang="en" sz="1100">
                  <a:solidFill>
                    <a:schemeClr val="dk1"/>
                  </a:solidFill>
                </a:rPr>
                <a:t>Falcon 9</a:t>
              </a:r>
              <a:r>
                <a:rPr lang="en" sz="1100">
                  <a:solidFill>
                    <a:schemeClr val="dk1"/>
                  </a:solidFill>
                </a:rPr>
                <a:t> launches. 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4" name="Google Shape;194;p35"/>
          <p:cNvGrpSpPr/>
          <p:nvPr/>
        </p:nvGrpSpPr>
        <p:grpSpPr>
          <a:xfrm>
            <a:off x="6874025" y="1189775"/>
            <a:ext cx="2064000" cy="3217850"/>
            <a:chOff x="6874025" y="1189775"/>
            <a:chExt cx="2064000" cy="3217850"/>
          </a:xfrm>
        </p:grpSpPr>
        <p:sp>
          <p:nvSpPr>
            <p:cNvPr id="195" name="Google Shape;195;p35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CLEAN: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35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Handle </a:t>
              </a:r>
              <a:r>
                <a:rPr b="1" lang="en" sz="1100">
                  <a:solidFill>
                    <a:schemeClr val="dk1"/>
                  </a:solidFill>
                </a:rPr>
                <a:t>Null Values</a:t>
              </a:r>
              <a:r>
                <a:rPr lang="en" sz="1100">
                  <a:solidFill>
                    <a:schemeClr val="dk1"/>
                  </a:solidFill>
                </a:rPr>
                <a:t> to create a clean base dataset.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7" name="Google Shape;197;p35"/>
          <p:cNvGrpSpPr/>
          <p:nvPr/>
        </p:nvGrpSpPr>
        <p:grpSpPr>
          <a:xfrm>
            <a:off x="5195350" y="1189775"/>
            <a:ext cx="2064000" cy="3217850"/>
            <a:chOff x="5195350" y="1189775"/>
            <a:chExt cx="2064000" cy="3217850"/>
          </a:xfrm>
        </p:grpSpPr>
        <p:sp>
          <p:nvSpPr>
            <p:cNvPr id="198" name="Google Shape;198;p35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TRANSFORM: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" name="Google Shape;199;p35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Extract nested data.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6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ct val="100000"/>
              <a:buFont typeface="IBM Plex Mono SemiBold"/>
              <a:buNone/>
            </a:pPr>
            <a:r>
              <a:t/>
            </a:r>
            <a:endParaRPr sz="300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6"/>
          <p:cNvSpPr txBox="1"/>
          <p:nvPr/>
        </p:nvSpPr>
        <p:spPr>
          <a:xfrm>
            <a:off x="691808" y="5182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Collection - Scraping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grpSp>
        <p:nvGrpSpPr>
          <p:cNvPr id="207" name="Google Shape;207;p36"/>
          <p:cNvGrpSpPr/>
          <p:nvPr/>
        </p:nvGrpSpPr>
        <p:grpSpPr>
          <a:xfrm>
            <a:off x="0" y="1189989"/>
            <a:ext cx="2214600" cy="3217636"/>
            <a:chOff x="0" y="1189989"/>
            <a:chExt cx="2214600" cy="3217636"/>
          </a:xfrm>
        </p:grpSpPr>
        <p:sp>
          <p:nvSpPr>
            <p:cNvPr id="208" name="Google Shape;208;p36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SOURCE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9" name="Google Shape;209;p36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Target Falcon 9 Launch Wiki URL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0" name="Google Shape;210;p36"/>
          <p:cNvGrpSpPr/>
          <p:nvPr/>
        </p:nvGrpSpPr>
        <p:grpSpPr>
          <a:xfrm>
            <a:off x="1838325" y="1189775"/>
            <a:ext cx="2064000" cy="3217850"/>
            <a:chOff x="1838325" y="1189775"/>
            <a:chExt cx="2064000" cy="3217850"/>
          </a:xfrm>
        </p:grpSpPr>
        <p:sp>
          <p:nvSpPr>
            <p:cNvPr id="211" name="Google Shape;211;p36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REQUEST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" name="Google Shape;212;p36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Fetch HTML content using Requests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3" name="Google Shape;213;p36"/>
          <p:cNvGrpSpPr/>
          <p:nvPr/>
        </p:nvGrpSpPr>
        <p:grpSpPr>
          <a:xfrm>
            <a:off x="3516750" y="1189775"/>
            <a:ext cx="2064000" cy="3217850"/>
            <a:chOff x="3516750" y="1189775"/>
            <a:chExt cx="2064000" cy="3217850"/>
          </a:xfrm>
        </p:grpSpPr>
        <p:sp>
          <p:nvSpPr>
            <p:cNvPr id="214" name="Google Shape;214;p36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IDENTIFY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" name="Google Shape;215;p36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Parse &lt;th&gt; tags for column headers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6" name="Google Shape;216;p36"/>
          <p:cNvGrpSpPr/>
          <p:nvPr/>
        </p:nvGrpSpPr>
        <p:grpSpPr>
          <a:xfrm>
            <a:off x="6874025" y="1189775"/>
            <a:ext cx="2064000" cy="3217850"/>
            <a:chOff x="6874025" y="1189775"/>
            <a:chExt cx="2064000" cy="3217850"/>
          </a:xfrm>
        </p:grpSpPr>
        <p:sp>
          <p:nvSpPr>
            <p:cNvPr id="217" name="Google Shape;217;p36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EXPORT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" name="Google Shape;218;p36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Clean text &amp; save as dataset_part_2.csv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9" name="Google Shape;219;p36"/>
          <p:cNvGrpSpPr/>
          <p:nvPr/>
        </p:nvGrpSpPr>
        <p:grpSpPr>
          <a:xfrm>
            <a:off x="5195350" y="1189775"/>
            <a:ext cx="2064000" cy="3217850"/>
            <a:chOff x="5195350" y="1189775"/>
            <a:chExt cx="2064000" cy="3217850"/>
          </a:xfrm>
        </p:grpSpPr>
        <p:sp>
          <p:nvSpPr>
            <p:cNvPr id="220" name="Google Shape;220;p36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EXTRACT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36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Loop through &lt;td&gt; rows for mission data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577508" y="1369219"/>
            <a:ext cx="6731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841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Relationship between different variables examined and visualized.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Features were then engineered for final modeling. 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Categorical variables were encoded and numerical variables were cast as floats. 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Link to notebook is below:</a:t>
            </a:r>
            <a:endParaRPr sz="1700">
              <a:solidFill>
                <a:srgbClr val="292929"/>
              </a:solidFill>
            </a:endParaRPr>
          </a:p>
          <a:p>
            <a:pPr indent="-33655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92929"/>
              </a:buClr>
              <a:buSzPts val="1700"/>
              <a:buChar char="○"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EDA notebook</a:t>
            </a:r>
            <a:endParaRPr sz="1700">
              <a:solidFill>
                <a:srgbClr val="292929"/>
              </a:solidFill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7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Wrangling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292929"/>
                </a:solidFill>
              </a:rPr>
              <a:t>Payload mass and flight number are examined. - Does success improve with more flights? With lighter payload (more fuel for recovery)?</a:t>
            </a:r>
            <a:endParaRPr sz="1200">
              <a:solidFill>
                <a:srgbClr val="292929"/>
              </a:solidFill>
            </a:endParaRPr>
          </a:p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200"/>
              <a:buChar char="•"/>
            </a:pPr>
            <a:r>
              <a:rPr lang="en" sz="1200">
                <a:solidFill>
                  <a:srgbClr val="292929"/>
                </a:solidFill>
              </a:rPr>
              <a:t>Launchsite and flight number are examined. Is there a pattern to launchsite usage / success?</a:t>
            </a:r>
            <a:endParaRPr sz="1200">
              <a:solidFill>
                <a:srgbClr val="292929"/>
              </a:solidFill>
            </a:endParaRPr>
          </a:p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200"/>
              <a:buChar char="•"/>
            </a:pPr>
            <a:r>
              <a:rPr lang="en" sz="1200">
                <a:solidFill>
                  <a:srgbClr val="292929"/>
                </a:solidFill>
              </a:rPr>
              <a:t>Payload mass and launchsite </a:t>
            </a:r>
            <a:r>
              <a:rPr lang="en" sz="1200">
                <a:solidFill>
                  <a:srgbClr val="292929"/>
                </a:solidFill>
              </a:rPr>
              <a:t>are</a:t>
            </a:r>
            <a:r>
              <a:rPr lang="en" sz="1200">
                <a:solidFill>
                  <a:srgbClr val="292929"/>
                </a:solidFill>
              </a:rPr>
              <a:t> examined. Are different launch sites used for different payloads?</a:t>
            </a:r>
            <a:endParaRPr sz="1200">
              <a:solidFill>
                <a:srgbClr val="292929"/>
              </a:solidFill>
            </a:endParaRPr>
          </a:p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200"/>
              <a:buChar char="•"/>
            </a:pPr>
            <a:r>
              <a:rPr lang="en" sz="1200">
                <a:solidFill>
                  <a:srgbClr val="292929"/>
                </a:solidFill>
              </a:rPr>
              <a:t>Success rate vs orbit type and frequency are examined? Are some orbit types more successful than others?</a:t>
            </a:r>
            <a:endParaRPr sz="1200">
              <a:solidFill>
                <a:srgbClr val="292929"/>
              </a:solidFill>
            </a:endParaRPr>
          </a:p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200"/>
              <a:buChar char="•"/>
            </a:pPr>
            <a:r>
              <a:rPr lang="en" sz="1200">
                <a:solidFill>
                  <a:srgbClr val="292929"/>
                </a:solidFill>
              </a:rPr>
              <a:t>Flight number and orbit type are examined. Is SpaceX strategy changing over time?</a:t>
            </a:r>
            <a:endParaRPr sz="1200">
              <a:solidFill>
                <a:srgbClr val="292929"/>
              </a:solidFill>
            </a:endParaRPr>
          </a:p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200"/>
              <a:buChar char="•"/>
            </a:pPr>
            <a:r>
              <a:rPr lang="en" sz="1200">
                <a:solidFill>
                  <a:srgbClr val="292929"/>
                </a:solidFill>
              </a:rPr>
              <a:t>Payload mass and orbit type are examined? Are different payloads associated with different orbit types?</a:t>
            </a:r>
            <a:endParaRPr sz="1200">
              <a:solidFill>
                <a:srgbClr val="292929"/>
              </a:solidFill>
            </a:endParaRPr>
          </a:p>
          <a:p>
            <a:pPr indent="-1524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200"/>
              <a:buChar char="•"/>
            </a:pPr>
            <a:r>
              <a:rPr lang="en" sz="1200">
                <a:solidFill>
                  <a:srgbClr val="292929"/>
                </a:solidFill>
              </a:rPr>
              <a:t>Chronological launch trend shows success rate is improving. </a:t>
            </a:r>
            <a:endParaRPr sz="1200">
              <a:solidFill>
                <a:srgbClr val="292929"/>
              </a:solidFill>
            </a:endParaRPr>
          </a:p>
        </p:txBody>
      </p:sp>
      <p:sp>
        <p:nvSpPr>
          <p:cNvPr id="235" name="Google Shape;235;p38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EDA with Data Visualization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39"/>
          <p:cNvSpPr txBox="1"/>
          <p:nvPr>
            <p:ph idx="1" type="body"/>
          </p:nvPr>
        </p:nvSpPr>
        <p:spPr>
          <a:xfrm>
            <a:off x="577507" y="1354931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SQL was used to evaluate launch site data, </a:t>
            </a:r>
            <a:r>
              <a:rPr lang="en" sz="1700">
                <a:solidFill>
                  <a:srgbClr val="292929"/>
                </a:solidFill>
              </a:rPr>
              <a:t>payload</a:t>
            </a:r>
            <a:r>
              <a:rPr lang="en" sz="1700">
                <a:solidFill>
                  <a:srgbClr val="292929"/>
                </a:solidFill>
              </a:rPr>
              <a:t> data and booster data - specifically which boosters carried the max payload. Landing outcomes were also ranged by value counts. </a:t>
            </a:r>
            <a:endParaRPr sz="17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Link provided below:</a:t>
            </a:r>
            <a:endParaRPr sz="1700">
              <a:solidFill>
                <a:srgbClr val="292929"/>
              </a:solidFill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○"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SQL EDA</a:t>
            </a:r>
            <a:endParaRPr sz="1700">
              <a:solidFill>
                <a:srgbClr val="292929"/>
              </a:solidFill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9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EDA with SQL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628650" y="1406290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M</a:t>
            </a: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arkers, circles, and lines, </a:t>
            </a:r>
            <a:r>
              <a:rPr lang="en" sz="1700">
                <a:solidFill>
                  <a:srgbClr val="292929"/>
                </a:solidFill>
              </a:rPr>
              <a:t>were added to a folium map to show the launch sites and the </a:t>
            </a:r>
            <a:r>
              <a:rPr lang="en" sz="1700">
                <a:solidFill>
                  <a:srgbClr val="292929"/>
                </a:solidFill>
              </a:rPr>
              <a:t>success</a:t>
            </a:r>
            <a:r>
              <a:rPr lang="en" sz="1700">
                <a:solidFill>
                  <a:srgbClr val="292929"/>
                </a:solidFill>
              </a:rPr>
              <a:t> or failed recovers associated with those launch sites. 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Link to notebook is below.</a:t>
            </a:r>
            <a:endParaRPr sz="1700">
              <a:solidFill>
                <a:srgbClr val="292929"/>
              </a:solidFill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○"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Folium Maps</a:t>
            </a:r>
            <a:endParaRPr sz="1700">
              <a:solidFill>
                <a:srgbClr val="292929"/>
              </a:solidFill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0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Build an Interactive Map with Folium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Dash was built to show success rate as it relates to launch site and payload. Launch site is the primary </a:t>
            </a:r>
            <a:r>
              <a:rPr lang="en" sz="1700">
                <a:solidFill>
                  <a:srgbClr val="292929"/>
                </a:solidFill>
              </a:rPr>
              <a:t>selectable</a:t>
            </a:r>
            <a:r>
              <a:rPr lang="en" sz="1700">
                <a:solidFill>
                  <a:srgbClr val="292929"/>
                </a:solidFill>
              </a:rPr>
              <a:t> feature on the dash. 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Code for this dash was transferred to a notebook. Link is below. </a:t>
            </a:r>
            <a:endParaRPr sz="1700">
              <a:solidFill>
                <a:srgbClr val="292929"/>
              </a:solidFill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○"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Dash Notebook</a:t>
            </a:r>
            <a:endParaRPr sz="1700">
              <a:solidFill>
                <a:srgbClr val="292929"/>
              </a:solidFill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1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Build a Dashboard with Plotly Dash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42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Predictive Analysis (Classification)</a:t>
            </a:r>
            <a:endParaRPr sz="1100"/>
          </a:p>
        </p:txBody>
      </p:sp>
      <p:grpSp>
        <p:nvGrpSpPr>
          <p:cNvPr id="263" name="Google Shape;263;p42"/>
          <p:cNvGrpSpPr/>
          <p:nvPr/>
        </p:nvGrpSpPr>
        <p:grpSpPr>
          <a:xfrm>
            <a:off x="0" y="1189989"/>
            <a:ext cx="2214600" cy="3217636"/>
            <a:chOff x="0" y="1189989"/>
            <a:chExt cx="2214600" cy="3217636"/>
          </a:xfrm>
        </p:grpSpPr>
        <p:sp>
          <p:nvSpPr>
            <p:cNvPr id="264" name="Google Shape;264;p42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PRE-PROCESSING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" name="Google Shape;265;p42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Define features X and target y.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6" name="Google Shape;266;p42"/>
          <p:cNvGrpSpPr/>
          <p:nvPr/>
        </p:nvGrpSpPr>
        <p:grpSpPr>
          <a:xfrm>
            <a:off x="1838325" y="1189775"/>
            <a:ext cx="2064000" cy="3217850"/>
            <a:chOff x="1838325" y="1189775"/>
            <a:chExt cx="2064000" cy="3217850"/>
          </a:xfrm>
        </p:grpSpPr>
        <p:sp>
          <p:nvSpPr>
            <p:cNvPr id="267" name="Google Shape;267;p42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SPLIT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" name="Google Shape;268;p42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Segment into Training and Test sets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9" name="Google Shape;269;p42"/>
          <p:cNvGrpSpPr/>
          <p:nvPr/>
        </p:nvGrpSpPr>
        <p:grpSpPr>
          <a:xfrm>
            <a:off x="3516750" y="1189775"/>
            <a:ext cx="2064000" cy="3217850"/>
            <a:chOff x="3516750" y="1189775"/>
            <a:chExt cx="2064000" cy="3217850"/>
          </a:xfrm>
        </p:grpSpPr>
        <p:sp>
          <p:nvSpPr>
            <p:cNvPr id="270" name="Google Shape;270;p42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GRID SEARCH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" name="Google Shape;271;p42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Tune hyperparameters for optimal results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2" name="Google Shape;272;p42"/>
          <p:cNvGrpSpPr/>
          <p:nvPr/>
        </p:nvGrpSpPr>
        <p:grpSpPr>
          <a:xfrm>
            <a:off x="6874025" y="1189775"/>
            <a:ext cx="2214600" cy="3217850"/>
            <a:chOff x="6874025" y="1189775"/>
            <a:chExt cx="2214600" cy="3217850"/>
          </a:xfrm>
        </p:grpSpPr>
        <p:sp>
          <p:nvSpPr>
            <p:cNvPr id="273" name="Google Shape;273;p42"/>
            <p:cNvSpPr/>
            <p:nvPr/>
          </p:nvSpPr>
          <p:spPr>
            <a:xfrm>
              <a:off x="6874025" y="1189775"/>
              <a:ext cx="22146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VISUALIZATION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4" name="Google Shape;274;p42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Generate Confusion Matrices for error analysis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5" name="Google Shape;275;p42"/>
          <p:cNvGrpSpPr/>
          <p:nvPr/>
        </p:nvGrpSpPr>
        <p:grpSpPr>
          <a:xfrm>
            <a:off x="5195350" y="1189775"/>
            <a:ext cx="2064000" cy="3217850"/>
            <a:chOff x="5195350" y="1189775"/>
            <a:chExt cx="2064000" cy="3217850"/>
          </a:xfrm>
        </p:grpSpPr>
        <p:sp>
          <p:nvSpPr>
            <p:cNvPr id="276" name="Google Shape;276;p42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EVALUATION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7" name="Google Shape;277;p42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Score models via Accuracy &amp; R2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8" name="Google Shape;278;p42"/>
          <p:cNvSpPr txBox="1"/>
          <p:nvPr/>
        </p:nvSpPr>
        <p:spPr>
          <a:xfrm>
            <a:off x="577500" y="362657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</a:rPr>
              <a:t>Link: </a:t>
            </a:r>
            <a:r>
              <a:rPr lang="en" sz="1700" u="sng">
                <a:solidFill>
                  <a:schemeClr val="hlink"/>
                </a:solidFill>
                <a:hlinkClick r:id="rId4"/>
              </a:rPr>
              <a:t>Model Notebook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/>
        </p:nvSpPr>
        <p:spPr>
          <a:xfrm>
            <a:off x="577503" y="1433571"/>
            <a:ext cx="7464900" cy="28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Exploratory data analysis results show several interesting relationships we will explore in the next slides</a:t>
            </a:r>
            <a:r>
              <a:rPr lang="en" sz="1700">
                <a:solidFill>
                  <a:srgbClr val="292929"/>
                </a:solidFill>
              </a:rPr>
              <a:t> - notably SpaceX has become much more successful at recovery over time. 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Predictive analysis results show that Logistic Regression, SVM and KNN all </a:t>
            </a:r>
            <a:r>
              <a:rPr lang="en" sz="1700">
                <a:solidFill>
                  <a:srgbClr val="292929"/>
                </a:solidFill>
              </a:rPr>
              <a:t>performed well on training and testing data. Decision Trees did well on training data but underperformed on testing data. </a:t>
            </a:r>
            <a:endParaRPr sz="1100"/>
          </a:p>
          <a:p>
            <a:pPr indent="-8890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85" name="Google Shape;285;p43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3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/>
        </p:nvSpPr>
        <p:spPr>
          <a:xfrm>
            <a:off x="598477" y="1897310"/>
            <a:ext cx="793727" cy="276999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5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45"/>
          <p:cNvSpPr txBox="1"/>
          <p:nvPr>
            <p:ph idx="1" type="body"/>
          </p:nvPr>
        </p:nvSpPr>
        <p:spPr>
          <a:xfrm>
            <a:off x="648730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SLC 40 Launch site is the most commonly used.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KSC LC 39A launch </a:t>
            </a:r>
            <a:r>
              <a:rPr lang="en" sz="1700">
                <a:solidFill>
                  <a:srgbClr val="292929"/>
                </a:solidFill>
              </a:rPr>
              <a:t>site</a:t>
            </a:r>
            <a:r>
              <a:rPr lang="en" sz="1700">
                <a:solidFill>
                  <a:srgbClr val="292929"/>
                </a:solidFill>
              </a:rPr>
              <a:t> took on a higher load of launches for a period of time - it may be an alternate to SLC40.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Success rate improves over time. </a:t>
            </a:r>
            <a:endParaRPr sz="1700">
              <a:solidFill>
                <a:srgbClr val="292929"/>
              </a:solidFill>
            </a:endParaRPr>
          </a:p>
        </p:txBody>
      </p:sp>
      <p:sp>
        <p:nvSpPr>
          <p:cNvPr id="298" name="Google Shape;298;p45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Flight Number vs. Launch Site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299" name="Google Shape;29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4908" y="1543049"/>
            <a:ext cx="5241292" cy="3302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6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6"/>
          <p:cNvSpPr txBox="1"/>
          <p:nvPr>
            <p:ph idx="1" type="body"/>
          </p:nvPr>
        </p:nvSpPr>
        <p:spPr>
          <a:xfrm>
            <a:off x="577508" y="1552318"/>
            <a:ext cx="2949179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Most payloads are below 10,000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SLC 4E sight has never had payload greater than 10,000</a:t>
            </a:r>
            <a:endParaRPr sz="1700">
              <a:solidFill>
                <a:srgbClr val="292929"/>
              </a:solidFill>
            </a:endParaRPr>
          </a:p>
        </p:txBody>
      </p:sp>
      <p:sp>
        <p:nvSpPr>
          <p:cNvPr id="306" name="Google Shape;306;p46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Payload vs. Launch Site</a:t>
            </a:r>
            <a:endParaRPr sz="1100"/>
          </a:p>
        </p:txBody>
      </p:sp>
      <p:pic>
        <p:nvPicPr>
          <p:cNvPr id="307" name="Google Shape;30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6787" y="1628074"/>
            <a:ext cx="5312514" cy="2707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47"/>
          <p:cNvSpPr txBox="1"/>
          <p:nvPr>
            <p:ph idx="1" type="body"/>
          </p:nvPr>
        </p:nvSpPr>
        <p:spPr>
          <a:xfrm>
            <a:off x="577508" y="1561585"/>
            <a:ext cx="2949179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VLEO has a moderate frequency of 14 launches with a success rate above 80%.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GTO has success rate below 60%  with a frequency of 27 launches. </a:t>
            </a:r>
            <a:endParaRPr sz="1700">
              <a:solidFill>
                <a:srgbClr val="292929"/>
              </a:solidFill>
            </a:endParaRPr>
          </a:p>
        </p:txBody>
      </p:sp>
      <p:sp>
        <p:nvSpPr>
          <p:cNvPr id="314" name="Google Shape;314;p47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Success Rate vs. Orbit Type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315" name="Google Shape;31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2537" y="1603862"/>
            <a:ext cx="5312513" cy="2774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8"/>
          <p:cNvSpPr txBox="1"/>
          <p:nvPr>
            <p:ph idx="1" type="body"/>
          </p:nvPr>
        </p:nvSpPr>
        <p:spPr>
          <a:xfrm>
            <a:off x="577508" y="1552317"/>
            <a:ext cx="2949179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ISS, PO, GTO are most common orbit types.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Uptick in VLEO orbits recently.</a:t>
            </a:r>
            <a:endParaRPr sz="1100"/>
          </a:p>
        </p:txBody>
      </p:sp>
      <p:sp>
        <p:nvSpPr>
          <p:cNvPr id="322" name="Google Shape;322;p48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Flight Number vs. Orbit Type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323" name="Google Shape;32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295" y="1552325"/>
            <a:ext cx="4719580" cy="285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49"/>
          <p:cNvSpPr txBox="1"/>
          <p:nvPr>
            <p:ph idx="1" type="body"/>
          </p:nvPr>
        </p:nvSpPr>
        <p:spPr>
          <a:xfrm>
            <a:off x="577508" y="1543050"/>
            <a:ext cx="2949179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Clusters or payload for ISS and GTO missions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30" name="Google Shape;330;p49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Payload vs. Orbit Type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331" name="Google Shape;33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4825" y="1386350"/>
            <a:ext cx="4964449" cy="31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50"/>
          <p:cNvSpPr txBox="1"/>
          <p:nvPr>
            <p:ph idx="1" type="body"/>
          </p:nvPr>
        </p:nvSpPr>
        <p:spPr>
          <a:xfrm>
            <a:off x="577508" y="1552318"/>
            <a:ext cx="2949179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Clear trend of success increase with time. </a:t>
            </a:r>
            <a:endParaRPr sz="1100"/>
          </a:p>
        </p:txBody>
      </p:sp>
      <p:sp>
        <p:nvSpPr>
          <p:cNvPr id="338" name="Google Shape;338;p50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Launch Success Yearly Trend</a:t>
            </a:r>
            <a:endParaRPr sz="1100"/>
          </a:p>
        </p:txBody>
      </p:sp>
      <p:pic>
        <p:nvPicPr>
          <p:cNvPr id="339" name="Google Shape;33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2162" y="1457824"/>
            <a:ext cx="5312514" cy="2953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Launch Sites:</a:t>
            </a:r>
            <a:endParaRPr sz="1100"/>
          </a:p>
        </p:txBody>
      </p:sp>
      <p:sp>
        <p:nvSpPr>
          <p:cNvPr id="346" name="Google Shape;346;p51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All Launch Site Names</a:t>
            </a:r>
            <a:endParaRPr sz="1100"/>
          </a:p>
        </p:txBody>
      </p:sp>
      <p:pic>
        <p:nvPicPr>
          <p:cNvPr id="347" name="Google Shape;34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9250" y="1899625"/>
            <a:ext cx="5203101" cy="273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2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52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CCA Records:</a:t>
            </a:r>
            <a:endParaRPr sz="1700">
              <a:solidFill>
                <a:srgbClr val="292929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92929"/>
              </a:solidFill>
            </a:endParaRPr>
          </a:p>
        </p:txBody>
      </p:sp>
      <p:sp>
        <p:nvSpPr>
          <p:cNvPr id="354" name="Google Shape;354;p52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Launch Site Names Begin with 'CCA'</a:t>
            </a:r>
            <a:endParaRPr sz="1100"/>
          </a:p>
        </p:txBody>
      </p:sp>
      <p:pic>
        <p:nvPicPr>
          <p:cNvPr id="355" name="Google Shape;35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8101" y="1135900"/>
            <a:ext cx="4349649" cy="354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3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Nasa Total Payload:</a:t>
            </a:r>
            <a:endParaRPr sz="1100"/>
          </a:p>
        </p:txBody>
      </p:sp>
      <p:sp>
        <p:nvSpPr>
          <p:cNvPr id="362" name="Google Shape;362;p53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Total Payload Mass</a:t>
            </a:r>
            <a:endParaRPr sz="1100"/>
          </a:p>
        </p:txBody>
      </p:sp>
      <p:pic>
        <p:nvPicPr>
          <p:cNvPr id="363" name="Google Shape;36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125" y="2005373"/>
            <a:ext cx="5679176" cy="175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4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Average F9 Mass</a:t>
            </a:r>
            <a:endParaRPr sz="1700">
              <a:solidFill>
                <a:srgbClr val="292929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92929"/>
              </a:solidFill>
            </a:endParaRPr>
          </a:p>
        </p:txBody>
      </p:sp>
      <p:sp>
        <p:nvSpPr>
          <p:cNvPr id="370" name="Google Shape;370;p54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Average Payload Mass by F9 v1.1</a:t>
            </a:r>
            <a:endParaRPr sz="1100"/>
          </a:p>
        </p:txBody>
      </p:sp>
      <p:pic>
        <p:nvPicPr>
          <p:cNvPr id="371" name="Google Shape;37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5599" y="2038071"/>
            <a:ext cx="5778402" cy="15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5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55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Find </a:t>
            </a:r>
            <a:r>
              <a:rPr lang="en" sz="1700">
                <a:solidFill>
                  <a:srgbClr val="292929"/>
                </a:solidFill>
              </a:rPr>
              <a:t>successful ground landing: </a:t>
            </a:r>
            <a:endParaRPr sz="1100"/>
          </a:p>
        </p:txBody>
      </p:sp>
      <p:sp>
        <p:nvSpPr>
          <p:cNvPr id="378" name="Google Shape;378;p55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First Successful Ground Landing Date</a:t>
            </a:r>
            <a:endParaRPr sz="1100"/>
          </a:p>
        </p:txBody>
      </p:sp>
      <p:pic>
        <p:nvPicPr>
          <p:cNvPr id="379" name="Google Shape;37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0801" y="1988127"/>
            <a:ext cx="5588201" cy="179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6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56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B</a:t>
            </a: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oosters which have successfully landed on drone ship and had payload mass greater than 4000 but less than 6000:</a:t>
            </a:r>
            <a:endParaRPr sz="17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6" name="Google Shape;386;p56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Successful Drone Ship Landing with Payload between 4000 and 6000</a:t>
            </a:r>
            <a:endParaRPr sz="1100"/>
          </a:p>
        </p:txBody>
      </p:sp>
      <p:pic>
        <p:nvPicPr>
          <p:cNvPr id="387" name="Google Shape;38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0599" y="2046473"/>
            <a:ext cx="5703975" cy="19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7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57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Mission Success vs failure (not recovery success):</a:t>
            </a:r>
            <a:endParaRPr sz="1700">
              <a:solidFill>
                <a:srgbClr val="292929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92929"/>
              </a:solidFill>
            </a:endParaRPr>
          </a:p>
        </p:txBody>
      </p:sp>
      <p:sp>
        <p:nvSpPr>
          <p:cNvPr id="394" name="Google Shape;394;p57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Total Number of Successful and Failure Mission Outcomes</a:t>
            </a:r>
            <a:endParaRPr sz="1100"/>
          </a:p>
        </p:txBody>
      </p:sp>
      <p:pic>
        <p:nvPicPr>
          <p:cNvPr id="395" name="Google Shape;39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1250" y="2034254"/>
            <a:ext cx="5821501" cy="20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8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58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B</a:t>
            </a: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ooster which have carried the maximum payload mass:</a:t>
            </a:r>
            <a:endParaRPr sz="1100"/>
          </a:p>
          <a:p>
            <a:pPr indent="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2" name="Google Shape;402;p58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Boosters Carried Maximum Payload</a:t>
            </a:r>
            <a:endParaRPr sz="1100"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4912" y="1852325"/>
            <a:ext cx="5391877" cy="292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9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59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F</a:t>
            </a: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ailed landing_outcomes in drone ship, their booster versions, and launch site names for in year 2015:</a:t>
            </a:r>
            <a:endParaRPr sz="1100"/>
          </a:p>
          <a:p>
            <a:pPr indent="-762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9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2015 Launch Records</a:t>
            </a:r>
            <a:endParaRPr sz="1100"/>
          </a:p>
        </p:txBody>
      </p:sp>
      <p:pic>
        <p:nvPicPr>
          <p:cNvPr id="411" name="Google Shape;41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200" y="2035300"/>
            <a:ext cx="4530375" cy="301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60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Ranked the count of landing outcomes</a:t>
            </a:r>
            <a:r>
              <a:rPr lang="en" sz="1700">
                <a:solidFill>
                  <a:srgbClr val="292929"/>
                </a:solidFill>
              </a:rPr>
              <a:t>:</a:t>
            </a:r>
            <a:endParaRPr sz="17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18" name="Google Shape;418;p60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Rank Landing Outcomes Between 2010-06-04 and 2017-03-20</a:t>
            </a:r>
            <a:endParaRPr sz="1100"/>
          </a:p>
        </p:txBody>
      </p:sp>
      <p:pic>
        <p:nvPicPr>
          <p:cNvPr id="419" name="Google Shape;41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3782" y="1853900"/>
            <a:ext cx="5036628" cy="277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/>
        </p:nvSpPr>
        <p:spPr>
          <a:xfrm>
            <a:off x="598477" y="1897310"/>
            <a:ext cx="793727" cy="276999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2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62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62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000"/>
              <a:buFont typeface="Arial"/>
              <a:buNone/>
            </a:pPr>
            <a:r>
              <a:rPr lang="en" sz="3000">
                <a:solidFill>
                  <a:srgbClr val="0B49CB"/>
                </a:solidFill>
              </a:rPr>
              <a:t>Launch Site Map</a:t>
            </a:r>
            <a:endParaRPr sz="1100"/>
          </a:p>
        </p:txBody>
      </p:sp>
      <p:pic>
        <p:nvPicPr>
          <p:cNvPr id="432" name="Google Shape;432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3726" y="1710150"/>
            <a:ext cx="5748900" cy="31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3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3"/>
          <p:cNvSpPr txBox="1"/>
          <p:nvPr>
            <p:ph idx="1" type="body"/>
          </p:nvPr>
        </p:nvSpPr>
        <p:spPr>
          <a:xfrm>
            <a:off x="577507" y="1369219"/>
            <a:ext cx="7309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1778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63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000"/>
              <a:buFont typeface="Arial"/>
              <a:buNone/>
            </a:pPr>
            <a:r>
              <a:rPr lang="en" sz="3000">
                <a:solidFill>
                  <a:srgbClr val="0B49CB"/>
                </a:solidFill>
              </a:rPr>
              <a:t>Launch Outcome Maps</a:t>
            </a:r>
            <a:endParaRPr sz="1100"/>
          </a:p>
        </p:txBody>
      </p:sp>
      <p:pic>
        <p:nvPicPr>
          <p:cNvPr id="440" name="Google Shape;44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170" y="1201100"/>
            <a:ext cx="4129474" cy="274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9650" y="1244250"/>
            <a:ext cx="4129477" cy="20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4"/>
          <p:cNvSpPr txBox="1"/>
          <p:nvPr/>
        </p:nvSpPr>
        <p:spPr>
          <a:xfrm>
            <a:off x="598477" y="1897310"/>
            <a:ext cx="793727" cy="276999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5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65"/>
          <p:cNvSpPr txBox="1"/>
          <p:nvPr>
            <p:ph idx="1" type="body"/>
          </p:nvPr>
        </p:nvSpPr>
        <p:spPr>
          <a:xfrm>
            <a:off x="577507" y="1369219"/>
            <a:ext cx="730919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762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65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000"/>
              <a:buFont typeface="Arial"/>
              <a:buNone/>
            </a:pPr>
            <a:r>
              <a:rPr lang="en" sz="3000">
                <a:solidFill>
                  <a:srgbClr val="0B49CB"/>
                </a:solidFill>
              </a:rPr>
              <a:t>Launch Site Success Dash</a:t>
            </a:r>
            <a:endParaRPr sz="1100"/>
          </a:p>
        </p:txBody>
      </p:sp>
      <p:pic>
        <p:nvPicPr>
          <p:cNvPr id="454" name="Google Shape;454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524" y="1369225"/>
            <a:ext cx="6960927" cy="2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6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66"/>
          <p:cNvSpPr txBox="1"/>
          <p:nvPr>
            <p:ph idx="1" type="body"/>
          </p:nvPr>
        </p:nvSpPr>
        <p:spPr>
          <a:xfrm>
            <a:off x="550520" y="1369219"/>
            <a:ext cx="7913687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66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</a:rPr>
              <a:t>Pay Load vs Success Dash</a:t>
            </a:r>
            <a:endParaRPr sz="3000">
              <a:solidFill>
                <a:srgbClr val="0B49CB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t/>
            </a:r>
            <a:endParaRPr sz="3000">
              <a:solidFill>
                <a:srgbClr val="0B49CB"/>
              </a:solidFill>
            </a:endParaRPr>
          </a:p>
        </p:txBody>
      </p:sp>
      <p:pic>
        <p:nvPicPr>
          <p:cNvPr id="462" name="Google Shape;46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887" y="1324674"/>
            <a:ext cx="8035927" cy="31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7"/>
          <p:cNvSpPr txBox="1"/>
          <p:nvPr/>
        </p:nvSpPr>
        <p:spPr>
          <a:xfrm>
            <a:off x="598477" y="1897310"/>
            <a:ext cx="793727" cy="276999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8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68"/>
          <p:cNvSpPr txBox="1"/>
          <p:nvPr>
            <p:ph idx="1" type="body"/>
          </p:nvPr>
        </p:nvSpPr>
        <p:spPr>
          <a:xfrm>
            <a:off x="577508" y="1561585"/>
            <a:ext cx="3994492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/>
              <a:t>Decision Tree had best Test accuracy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74" name="Google Shape;474;p68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Classification Accuracy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475" name="Google Shape;475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8599" y="1826312"/>
            <a:ext cx="4267197" cy="2841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9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69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000"/>
              <a:buFont typeface="Arial"/>
              <a:buNone/>
            </a:pPr>
            <a:r>
              <a:rPr lang="en" sz="3000">
                <a:solidFill>
                  <a:srgbClr val="0B49CB"/>
                </a:solidFill>
              </a:rPr>
              <a:t>Decision Tree </a:t>
            </a: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482" name="Google Shape;48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7500" y="1399650"/>
            <a:ext cx="4421626" cy="31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0"/>
          <p:cNvSpPr txBox="1"/>
          <p:nvPr>
            <p:ph idx="12" type="sldNum"/>
          </p:nvPr>
        </p:nvSpPr>
        <p:spPr>
          <a:xfrm>
            <a:off x="6536079" y="4519180"/>
            <a:ext cx="2057400" cy="30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70"/>
          <p:cNvSpPr txBox="1"/>
          <p:nvPr>
            <p:ph idx="1" type="body"/>
          </p:nvPr>
        </p:nvSpPr>
        <p:spPr>
          <a:xfrm>
            <a:off x="577508" y="1406290"/>
            <a:ext cx="4427935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Font typeface="Arial"/>
              <a:buChar char="•"/>
            </a:pPr>
            <a:r>
              <a:rPr lang="en" sz="1700">
                <a:solidFill>
                  <a:srgbClr val="292929"/>
                </a:solidFill>
              </a:rPr>
              <a:t>Several viable models.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Decision Tree is best. 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Feature importances suggest hardware is major determinant. 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Payload and iteration also play key roles. 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Heavier payloads may leave less fuel for recovery</a:t>
            </a:r>
            <a:endParaRPr sz="1700">
              <a:solidFill>
                <a:srgbClr val="292929"/>
              </a:solidFill>
            </a:endParaRPr>
          </a:p>
          <a:p>
            <a:pPr indent="-18415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292929"/>
              </a:buClr>
              <a:buSzPts val="1700"/>
              <a:buChar char="•"/>
            </a:pPr>
            <a:r>
              <a:rPr lang="en" sz="1700">
                <a:solidFill>
                  <a:srgbClr val="292929"/>
                </a:solidFill>
              </a:rPr>
              <a:t>Iteration suggests </a:t>
            </a:r>
            <a:r>
              <a:rPr lang="en" sz="1700">
                <a:solidFill>
                  <a:srgbClr val="292929"/>
                </a:solidFill>
              </a:rPr>
              <a:t>institutional</a:t>
            </a:r>
            <a:r>
              <a:rPr lang="en" sz="1700">
                <a:solidFill>
                  <a:srgbClr val="292929"/>
                </a:solidFill>
              </a:rPr>
              <a:t> learning.</a:t>
            </a:r>
            <a:endParaRPr sz="1700">
              <a:solidFill>
                <a:srgbClr val="292929"/>
              </a:solidFill>
            </a:endParaRPr>
          </a:p>
        </p:txBody>
      </p:sp>
      <p:sp>
        <p:nvSpPr>
          <p:cNvPr id="489" name="Google Shape;489;p70"/>
          <p:cNvSpPr txBox="1"/>
          <p:nvPr/>
        </p:nvSpPr>
        <p:spPr>
          <a:xfrm>
            <a:off x="577508" y="403988"/>
            <a:ext cx="7886700" cy="41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" sz="3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3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490" name="Google Shape;49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450" y="1145275"/>
            <a:ext cx="3900574" cy="332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